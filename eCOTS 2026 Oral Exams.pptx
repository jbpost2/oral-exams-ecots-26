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71" r:id="rId5"/>
    <p:sldId id="259" r:id="rId6"/>
    <p:sldId id="272" r:id="rId7"/>
    <p:sldId id="274" r:id="rId8"/>
    <p:sldId id="268" r:id="rId9"/>
    <p:sldId id="265" r:id="rId10"/>
    <p:sldId id="267" r:id="rId11"/>
    <p:sldId id="266" r:id="rId12"/>
    <p:sldId id="269" r:id="rId13"/>
    <p:sldId id="270" r:id="rId14"/>
    <p:sldId id="260" r:id="rId15"/>
    <p:sldId id="261" r:id="rId16"/>
    <p:sldId id="262" r:id="rId17"/>
    <p:sldId id="26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F295016-AE41-4822-9C0D-C8FF301D8361}">
          <p14:sldIdLst>
            <p14:sldId id="256"/>
            <p14:sldId id="257"/>
            <p14:sldId id="258"/>
            <p14:sldId id="271"/>
            <p14:sldId id="259"/>
            <p14:sldId id="272"/>
            <p14:sldId id="274"/>
            <p14:sldId id="268"/>
            <p14:sldId id="265"/>
            <p14:sldId id="267"/>
            <p14:sldId id="266"/>
            <p14:sldId id="269"/>
            <p14:sldId id="270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3" autoAdjust="0"/>
    <p:restoredTop sz="87234" autoAdjust="0"/>
  </p:normalViewPr>
  <p:slideViewPr>
    <p:cSldViewPr snapToGrid="0">
      <p:cViewPr varScale="1">
        <p:scale>
          <a:sx n="100" d="100"/>
          <a:sy n="100" d="100"/>
        </p:scale>
        <p:origin x="9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queline Herman" userId="4c0a0227-bbe4-44ff-968a-f0225102a3af" providerId="ADAL" clId="{41B7F2AA-8CF0-44A2-AE09-268512714C6B}"/>
    <pc:docChg chg="custSel modSld">
      <pc:chgData name="Jacqueline Herman" userId="4c0a0227-bbe4-44ff-968a-f0225102a3af" providerId="ADAL" clId="{41B7F2AA-8CF0-44A2-AE09-268512714C6B}" dt="2026-06-01T21:34:32.040" v="6" actId="20577"/>
      <pc:docMkLst>
        <pc:docMk/>
      </pc:docMkLst>
      <pc:sldChg chg="modSp mod">
        <pc:chgData name="Jacqueline Herman" userId="4c0a0227-bbe4-44ff-968a-f0225102a3af" providerId="ADAL" clId="{41B7F2AA-8CF0-44A2-AE09-268512714C6B}" dt="2026-06-01T21:34:32.040" v="6" actId="20577"/>
        <pc:sldMkLst>
          <pc:docMk/>
          <pc:sldMk cId="2902288093" sldId="259"/>
        </pc:sldMkLst>
        <pc:spChg chg="mod">
          <ac:chgData name="Jacqueline Herman" userId="4c0a0227-bbe4-44ff-968a-f0225102a3af" providerId="ADAL" clId="{41B7F2AA-8CF0-44A2-AE09-268512714C6B}" dt="2026-06-01T21:34:32.040" v="6" actId="20577"/>
          <ac:spMkLst>
            <pc:docMk/>
            <pc:sldMk cId="2902288093" sldId="259"/>
            <ac:spMk id="3" creationId="{B5C27AD4-5311-A59F-4EA7-753FD447B526}"/>
          </ac:spMkLst>
        </pc:spChg>
      </pc:sldChg>
      <pc:sldChg chg="addSp delSp modSp mod">
        <pc:chgData name="Jacqueline Herman" userId="4c0a0227-bbe4-44ff-968a-f0225102a3af" providerId="ADAL" clId="{41B7F2AA-8CF0-44A2-AE09-268512714C6B}" dt="2026-06-01T21:33:45.308" v="2" actId="14100"/>
        <pc:sldMkLst>
          <pc:docMk/>
          <pc:sldMk cId="849394251" sldId="268"/>
        </pc:sldMkLst>
        <pc:picChg chg="del">
          <ac:chgData name="Jacqueline Herman" userId="4c0a0227-bbe4-44ff-968a-f0225102a3af" providerId="ADAL" clId="{41B7F2AA-8CF0-44A2-AE09-268512714C6B}" dt="2026-06-01T18:47:04.029" v="0" actId="478"/>
          <ac:picMkLst>
            <pc:docMk/>
            <pc:sldMk cId="849394251" sldId="268"/>
            <ac:picMk id="4" creationId="{D8BC0AB1-1AB3-4541-A11E-C89A6C7A9920}"/>
          </ac:picMkLst>
        </pc:picChg>
        <pc:picChg chg="add mod">
          <ac:chgData name="Jacqueline Herman" userId="4c0a0227-bbe4-44ff-968a-f0225102a3af" providerId="ADAL" clId="{41B7F2AA-8CF0-44A2-AE09-268512714C6B}" dt="2026-06-01T21:33:45.308" v="2" actId="14100"/>
          <ac:picMkLst>
            <pc:docMk/>
            <pc:sldMk cId="849394251" sldId="268"/>
            <ac:picMk id="6" creationId="{AD54D97D-F21F-852F-FA83-3C082E30662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604D3-08DC-4625-B6BA-EDA174851E58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A82AF3-FB5A-4FBE-8E9E-E0D407A949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970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Jackie: I would mention being an alternative to take-home exams with the academic integrity bullet, but was unsure if replacing take-home exams was part of your motivation at also. </a:t>
            </a:r>
            <a:br>
              <a:rPr lang="en-US" dirty="0"/>
            </a:br>
            <a:r>
              <a:rPr lang="en-US" dirty="0"/>
              <a:t>Justin: I did in the programming course because we didn’t trust what they were turning in as their work. So it was a way to do that which wasn’t just a multiple choice types quiz.. </a:t>
            </a:r>
          </a:p>
          <a:p>
            <a:endParaRPr lang="en-US" dirty="0"/>
          </a:p>
          <a:p>
            <a:r>
              <a:rPr lang="en-US" dirty="0"/>
              <a:t>Jackie: I think we will also want to mention that these did not replace in-class exams.</a:t>
            </a:r>
          </a:p>
          <a:p>
            <a:r>
              <a:rPr lang="en-US" dirty="0"/>
              <a:t>Justin; Agreed!</a:t>
            </a:r>
          </a:p>
          <a:p>
            <a:endParaRPr lang="en-US" dirty="0"/>
          </a:p>
          <a:p>
            <a:r>
              <a:rPr lang="en-US" dirty="0"/>
              <a:t>I think maybe we could split this into 2 or 4 slides and add a graphic or something to make it a bit more interesting looking.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82AF3-FB5A-4FBE-8E9E-E0D407A949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024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8E60E-20EB-0319-9B6C-42D96D26B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E7EB3-2B2A-F5EC-34D5-E5E7E9D8B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508F9-DC9A-80EF-584D-1BA5A1057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Jackie: I would mention being an alternative to take-home exams with the academic integrity bullet, but was unsure if replacing take-home exams was part of your motivation at also. </a:t>
            </a:r>
            <a:br>
              <a:rPr lang="en-US" dirty="0"/>
            </a:br>
            <a:r>
              <a:rPr lang="en-US" dirty="0"/>
              <a:t>Justin: I did in the programming course because we didn’t trust what they were turning in as their work. So it was a way to do that which wasn’t just a multiple choice types quiz.. </a:t>
            </a:r>
          </a:p>
          <a:p>
            <a:endParaRPr lang="en-US" dirty="0"/>
          </a:p>
          <a:p>
            <a:r>
              <a:rPr lang="en-US" dirty="0"/>
              <a:t>Jackie: I think we will also want to mention that these did not replace in-class exams.</a:t>
            </a:r>
          </a:p>
          <a:p>
            <a:r>
              <a:rPr lang="en-US" dirty="0"/>
              <a:t>Justin; Agreed!</a:t>
            </a:r>
          </a:p>
          <a:p>
            <a:endParaRPr lang="en-US" dirty="0"/>
          </a:p>
          <a:p>
            <a:r>
              <a:rPr lang="en-US" dirty="0"/>
              <a:t>I think maybe we could split this into 2 or 4 slides and add a graphic or something to make it a bit more interesting looking.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95766-1E46-6DDB-B3E6-87DEB5AF57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82AF3-FB5A-4FBE-8E9E-E0D407A949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924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we could pull up an example of each “test”, as well as how we evaluated the students</a:t>
            </a:r>
          </a:p>
          <a:p>
            <a:endParaRPr lang="en-US" dirty="0"/>
          </a:p>
          <a:p>
            <a:r>
              <a:rPr lang="en-US" dirty="0"/>
              <a:t>Agreed!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82AF3-FB5A-4FBE-8E9E-E0D407A949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61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E66AC-CE40-EABF-B399-2C7BAC437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52D5E-44C9-073E-06F1-C1D4267B8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E25572-4B9F-7394-1C09-3E7B9297AD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C765B-6F49-2CBB-C6D7-839D14AC7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82AF3-FB5A-4FBE-8E9E-E0D407A949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81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D795C-EC47-6A80-6756-CFA408C87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32D76-BFF0-72F4-1AC1-915DB372F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185B6-1C79-7E4A-F678-2FEB8E627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465DB-4D0F-8134-1BE8-209457BDBE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82AF3-FB5A-4FBE-8E9E-E0D407A949E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085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82AF3-FB5A-4FBE-8E9E-E0D407A949E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987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82AF3-FB5A-4FBE-8E9E-E0D407A949E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085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82AF3-FB5A-4FBE-8E9E-E0D407A949E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86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we could pull up an example of each “test”, as well as how we evaluated the students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82AF3-FB5A-4FBE-8E9E-E0D407A949E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5946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82AF3-FB5A-4FBE-8E9E-E0D407A949E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78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82AF3-FB5A-4FBE-8E9E-E0D407A949E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545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Other bullets I’m not thinking about?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82AF3-FB5A-4FBE-8E9E-E0D407A949E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176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Maybe switch the order of these two groupings?</a:t>
            </a:r>
          </a:p>
          <a:p>
            <a:endParaRPr lang="en-US" dirty="0"/>
          </a:p>
          <a:p>
            <a:r>
              <a:rPr lang="en-US" dirty="0"/>
              <a:t>Yes, I think so! (Done)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A82AF3-FB5A-4FBE-8E9E-E0D407A949E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871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9EB59-347B-8086-7A78-FE2AFFA45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48FA89-2944-F697-357B-E451BEE626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3DDFC-514C-6015-7902-A05A7D9E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22C8A-5ABF-4B07-AADE-831C0631214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E5109-3E83-94AC-2039-BA2B02E2B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F2D86-4CBC-1502-F9F1-51B6A16D7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ED12-E3B8-4B23-8922-10FC30719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8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3F2B-571A-E2DF-8F79-8EBD91158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5F3E1-BE69-D31E-36F9-56E072ACB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86C05-AE09-4240-F0E8-248608AEF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22C8A-5ABF-4B07-AADE-831C0631214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CB03B-F8AE-C281-D637-08647DA1B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2EDC4-21C5-8AAE-8252-A8E7EC9AA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ED12-E3B8-4B23-8922-10FC30719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7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1E591-4E2B-7A1E-3E65-D52932A38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569EC-56FE-1A50-F248-2BABC8423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2EBC3-BD7C-4DC1-0AD3-F85C8DA9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22C8A-5ABF-4B07-AADE-831C0631214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D1B50-DC4B-E692-2FF2-0FC22DCD4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0F8FD-4ABB-1920-612A-E3171DDBC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ED12-E3B8-4B23-8922-10FC30719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808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C347D-FDF7-D676-85F0-7987AE01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7E088-CE3B-0B30-39C4-21D9BD204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483D2F-5B95-053C-96DD-EEF51C121D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F61AE9-ADAF-CFA3-1F10-717C233D8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22C8A-5ABF-4B07-AADE-831C0631214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1B2D1-DAA8-1AD2-C3EE-3DD452325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B750F6-CD32-2652-A182-3B798B3B6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ED12-E3B8-4B23-8922-10FC30719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63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98D66-55B9-D4F6-FF1A-714D9AEDC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21EBA-C598-30B1-C708-CE51E9816B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1D06FF-182F-4908-BB76-746AD9A274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04ED8F-639F-518D-94DC-05DC121316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9C728A-1D46-B1D3-8D45-740AF0A4E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F9F9E3-885D-56D7-7B4D-6465EFEF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22C8A-5ABF-4B07-AADE-831C0631214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755D80-5DE1-3F22-4A41-8E2E4C537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2AA2AD-7F8F-A24D-AE2E-306D71426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ED12-E3B8-4B23-8922-10FC30719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266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D71E2-D917-DAEB-3D22-02C7B20FF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6C7B00-5F02-21B2-B7C9-77D5E4493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22C8A-5ABF-4B07-AADE-831C0631214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3E325E-AEB7-16A0-FF9F-3C17F9BA1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37A24A-00C3-CD7E-DEAB-E346663AF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ED12-E3B8-4B23-8922-10FC30719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215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874238-E465-49D2-1393-E69C725DE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22C8A-5ABF-4B07-AADE-831C0631214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6862-48F7-6208-AB7D-F18F5C14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07DAB-8EFE-04EE-42B1-D70D56E8E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ED12-E3B8-4B23-8922-10FC30719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472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53EFA-761E-2958-BFAD-EA38ECC8D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369D6-2CB8-C92D-391C-19BA5FBFA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F72242-A553-D6A3-1F2E-405D7DA33D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57437-C307-CFC7-22F0-482307CE7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22C8A-5ABF-4B07-AADE-831C0631214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0F61E-5555-B5D2-C338-4CDCEE968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758673-E0AC-ECAA-6A26-FBDFCEF19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ED12-E3B8-4B23-8922-10FC30719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16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5429A-DF78-563F-5BCC-2C6865D3E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E30EB6-28C7-39AE-5EF3-60EE67CF30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3A4DA-0707-3A47-D0AE-948229EA7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7CB20-8CDE-CA20-597D-EDD4FE615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22C8A-5ABF-4B07-AADE-831C0631214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3E3DD-9C47-C618-BBEA-15DA858F8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A8865-49AE-0C40-C228-24D6A80F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ED12-E3B8-4B23-8922-10FC30719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80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A37D5-DBED-2ECF-0862-E3261700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13BAC1-E8EB-21BA-BAD9-01B5514F9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30F4D-B212-14F6-1ECD-9BF788451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22C8A-5ABF-4B07-AADE-831C0631214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766D1-FE05-4D4F-B729-C6E2C09E5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A1A32-3AEB-8305-67D2-977D369ED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ED12-E3B8-4B23-8922-10FC30719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85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6F2386-2711-ECD9-43FE-12E49733E3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62383D-A677-503B-3944-60DE6D187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99C7E-EE0E-FCD0-AF89-47CE35438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22C8A-5ABF-4B07-AADE-831C0631214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F7DD7-A049-4B36-0C5D-485F7E7F5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8B668-759C-4860-C9F6-9311A2CC5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DED12-E3B8-4B23-8922-10FC30719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78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AE3028-22C4-7308-3380-F3FB31142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A50FA-4235-E725-C8B8-3490D30048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1B2DC-D339-BE7C-3A08-D266152DDF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D22C8A-5ABF-4B07-AADE-831C06312145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3FC10-DD60-ADED-72DE-499754E9BE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83DCE-065F-A7F8-F173-F04187F22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DED12-E3B8-4B23-8922-10FC30719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01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p.wooclap.com/RMREUPE?from=instruction-slid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bpost2/Oral-exams-ecots-26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mailto:hermanj1@nku.edu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jbpost2@ncsu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98E861A-6FF1-35E8-6068-AA437C2EA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46" y="299448"/>
            <a:ext cx="11535507" cy="62591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983D6D-C901-CF07-771F-8ACCB36D4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63036"/>
            <a:ext cx="9144000" cy="1239000"/>
          </a:xfrm>
        </p:spPr>
        <p:txBody>
          <a:bodyPr/>
          <a:lstStyle/>
          <a:p>
            <a:r>
              <a:rPr lang="en-US" dirty="0"/>
              <a:t>Talk is Not Cheap: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CE668-8717-8995-4BD9-FE7F3D2293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70973"/>
            <a:ext cx="9144000" cy="1026331"/>
          </a:xfrm>
        </p:spPr>
        <p:txBody>
          <a:bodyPr>
            <a:normAutofit/>
          </a:bodyPr>
          <a:lstStyle/>
          <a:p>
            <a:r>
              <a:rPr lang="en-US" sz="4400" dirty="0"/>
              <a:t>Oral Exams in the Presence of AI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F0D17F37-251C-6C8E-0F80-02AD69AF17BF}"/>
              </a:ext>
            </a:extLst>
          </p:cNvPr>
          <p:cNvSpPr txBox="1">
            <a:spLocks/>
          </p:cNvSpPr>
          <p:nvPr/>
        </p:nvSpPr>
        <p:spPr>
          <a:xfrm>
            <a:off x="1045029" y="3868882"/>
            <a:ext cx="10249318" cy="123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000" dirty="0"/>
              <a:t>Jacqueline Herman (Northern Kentucky University) &amp;</a:t>
            </a:r>
            <a:br>
              <a:rPr lang="en-US" sz="3000" dirty="0"/>
            </a:br>
            <a:r>
              <a:rPr lang="en-US" sz="3000" dirty="0"/>
              <a:t>Justin Post (North Carolina State University)</a:t>
            </a:r>
          </a:p>
        </p:txBody>
      </p:sp>
    </p:spTree>
    <p:extLst>
      <p:ext uri="{BB962C8B-B14F-4D97-AF65-F5344CB8AC3E}">
        <p14:creationId xmlns:p14="http://schemas.microsoft.com/office/powerpoint/2010/main" val="459726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B999F61-0ACE-7DF8-BF07-D572AE2C2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71305"/>
            <a:ext cx="11599921" cy="633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DA6104-BB6D-E977-58C6-555657B86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Oral Exams: Polling the Room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82E437-5D4D-4052-957A-F0E402090774}"/>
              </a:ext>
            </a:extLst>
          </p:cNvPr>
          <p:cNvSpPr txBox="1"/>
          <p:nvPr/>
        </p:nvSpPr>
        <p:spPr>
          <a:xfrm>
            <a:off x="993059" y="1572703"/>
            <a:ext cx="10166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961CA6-9693-43D0-A6E7-E64E230A0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199" y="2635139"/>
            <a:ext cx="7912507" cy="12573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57AF33-66D6-486C-9024-518BDC64F425}"/>
              </a:ext>
            </a:extLst>
          </p:cNvPr>
          <p:cNvSpPr txBox="1"/>
          <p:nvPr/>
        </p:nvSpPr>
        <p:spPr>
          <a:xfrm>
            <a:off x="2253802" y="4195563"/>
            <a:ext cx="78174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4"/>
              </a:rPr>
              <a:t>https://app.wooclap.com/RMREUPE?from=instruction-slide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2985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A77B6-EAF0-A72C-C161-E9A06D492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69CD0A-B437-440B-FB68-3A7BBABD16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71305"/>
            <a:ext cx="11599921" cy="633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0DAE5AA-2031-77AA-8D3A-912AE920C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Motivations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EF1F17-D991-F4D6-3508-5E3A4EC7033A}"/>
              </a:ext>
            </a:extLst>
          </p:cNvPr>
          <p:cNvSpPr txBox="1"/>
          <p:nvPr/>
        </p:nvSpPr>
        <p:spPr>
          <a:xfrm>
            <a:off x="993059" y="1785363"/>
            <a:ext cx="496117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Ensure academic integrity in the age of AI.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Assess students’ conceptual understanding through verbal reasoning.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0507461-2AEB-57BD-13CD-5BF98E9E88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241" y="1318909"/>
            <a:ext cx="3519381" cy="453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650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5148D-5CB6-B94E-FE5B-03A6E858E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DE3DA9-6485-1E27-7DA9-888387168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71305"/>
            <a:ext cx="11599921" cy="633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AFCE28-159D-7D58-8D27-EA2920B0E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Motivations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4F6394-AD71-FB38-7426-28610FB1CCC7}"/>
              </a:ext>
            </a:extLst>
          </p:cNvPr>
          <p:cNvSpPr txBox="1"/>
          <p:nvPr/>
        </p:nvSpPr>
        <p:spPr>
          <a:xfrm>
            <a:off x="993059" y="1572703"/>
            <a:ext cx="52907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Provide an alternative way for students to demonstrate understanding, especially for those who may struggle with traditional in-class exams.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Build stronger student-instructor interactions.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9B30ED-F3FA-64CC-DC57-F4D88A832E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3841" y="1172819"/>
            <a:ext cx="3646967" cy="487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1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F6FE9-4F90-4073-85F4-29EA4665F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13C431-E133-8BC5-2176-1FD6E8D30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71305"/>
            <a:ext cx="11599921" cy="633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D71466-7A2B-9B92-F654-175A2D8C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Experiences (Set-Up)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C27AD4-5311-A59F-4EA7-753FD447B526}"/>
              </a:ext>
            </a:extLst>
          </p:cNvPr>
          <p:cNvSpPr txBox="1"/>
          <p:nvPr/>
        </p:nvSpPr>
        <p:spPr>
          <a:xfrm>
            <a:off x="644014" y="1423841"/>
            <a:ext cx="1070978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Undergraduate statistics theory class @ NKU.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Format 1: “Take-home” with encouraged collaboration.</a:t>
            </a:r>
          </a:p>
          <a:p>
            <a:pPr marL="1371600" lvl="2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Given a week in advance (5 questions), schedule a 20-minute meeting with me outside of class</a:t>
            </a:r>
          </a:p>
          <a:p>
            <a:pPr marL="1371600" lvl="2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 The student chose one question, and I chose one question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Format 2:  Minimal preparation with individualized questions.</a:t>
            </a:r>
          </a:p>
          <a:p>
            <a:pPr marL="1371600" lvl="2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Given 45 minutes outside my office to work on two problems</a:t>
            </a:r>
          </a:p>
          <a:p>
            <a:pPr marL="1371600" lvl="2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 30-minute oral exam immediately after.</a:t>
            </a:r>
          </a:p>
        </p:txBody>
      </p:sp>
    </p:spTree>
    <p:extLst>
      <p:ext uri="{BB962C8B-B14F-4D97-AF65-F5344CB8AC3E}">
        <p14:creationId xmlns:p14="http://schemas.microsoft.com/office/powerpoint/2010/main" val="290228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425AE-19D3-94E3-5E49-8DD908054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3B860C-5EE4-56A1-E810-49FCF24EB2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71305"/>
            <a:ext cx="11599921" cy="633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10FD8-285F-88A1-B1CC-20D42FF91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Questions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45BA61-FEB8-7801-19AF-C6DB872604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36" y="1463925"/>
            <a:ext cx="9274649" cy="427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562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DFF2A-87F9-E6B2-A6E0-5A0A477B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173410-7E44-832D-7684-1594A0CA56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71305"/>
            <a:ext cx="11599921" cy="633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788BE8-2F9C-E96F-421E-12131BBB4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Questions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6D464A-F6ED-30D3-5BDC-276D5A4589D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862" y="3806464"/>
            <a:ext cx="9090436" cy="23884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E045A0-E6F9-4C17-A0E1-B2DD5B9203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869" y="1527670"/>
            <a:ext cx="9346903" cy="2246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560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F6FE9-4F90-4073-85F4-29EA4665F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13C431-E133-8BC5-2176-1FD6E8D30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71305"/>
            <a:ext cx="11599921" cy="633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D71466-7A2B-9B92-F654-175A2D8C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Rubric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54D97D-F21F-852F-FA83-3C082E306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981" y="1382852"/>
            <a:ext cx="9412710" cy="462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39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F6FE9-4F90-4073-85F4-29EA4665F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13C431-E133-8BC5-2176-1FD6E8D30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71305"/>
            <a:ext cx="11599921" cy="633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D71466-7A2B-9B92-F654-175A2D8C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Experiences (Set-Up)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C27AD4-5311-A59F-4EA7-753FD447B526}"/>
              </a:ext>
            </a:extLst>
          </p:cNvPr>
          <p:cNvSpPr txBox="1"/>
          <p:nvPr/>
        </p:nvSpPr>
        <p:spPr>
          <a:xfrm>
            <a:off x="993059" y="1572703"/>
            <a:ext cx="10166556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Online Master’s level statistics theory class @ NCSU.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Exam week: Oral exam window M-W, Written window Th-F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Preparation: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Video submission questions on each homework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Emphasis on why/purpose during lecture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Exam content: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Two shorter questions and three longer questions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588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F6FE9-4F90-4073-85F4-29EA4665F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13C431-E133-8BC5-2176-1FD6E8D30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71305"/>
            <a:ext cx="11599921" cy="633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D71466-7A2B-9B92-F654-175A2D8C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Questions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05A613-60BE-4F56-BB65-D020ADB09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435" y="1542573"/>
            <a:ext cx="6492934" cy="16138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C2FCE1-D71B-42DC-8829-8C9BC3B586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902" y="3618963"/>
            <a:ext cx="6150956" cy="2670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7392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F6FE9-4F90-4073-85F4-29EA4665F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13C431-E133-8BC5-2176-1FD6E8D30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71305"/>
            <a:ext cx="11599921" cy="633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D71466-7A2B-9B92-F654-175A2D8C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Experiences (Set-Up)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C27AD4-5311-A59F-4EA7-753FD447B526}"/>
              </a:ext>
            </a:extLst>
          </p:cNvPr>
          <p:cNvSpPr txBox="1"/>
          <p:nvPr/>
        </p:nvSpPr>
        <p:spPr>
          <a:xfrm>
            <a:off x="993059" y="1572703"/>
            <a:ext cx="1016655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Undergraduate introductory R &amp; SAS coding classes @ NCSU.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Flipped 1 credit courses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Two weeks set aside for oral exams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Preparation: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Example program and rubric given for studying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Exam content: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Two basic recall questions and two conceptual ‘purpose’ questions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768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F6FE9-4F90-4073-85F4-29EA4665F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13C431-E133-8BC5-2176-1FD6E8D30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71305"/>
            <a:ext cx="11599921" cy="633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D71466-7A2B-9B92-F654-175A2D8C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Program and Questions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87A547-5179-4E76-B863-65D4AC82A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72" y="1429786"/>
            <a:ext cx="6698996" cy="37927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ED70206-CB41-4EA3-B945-3C7D91D780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6756" y="2134090"/>
            <a:ext cx="5212423" cy="34826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27010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F6FE9-4F90-4073-85F4-29EA4665F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13C431-E133-8BC5-2176-1FD6E8D302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71305"/>
            <a:ext cx="11599921" cy="633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D71466-7A2B-9B92-F654-175A2D8C8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Rubric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BC0AB1-1AB3-4541-A11E-C89A6C7A99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269" y="1513276"/>
            <a:ext cx="8427077" cy="46441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3235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21727-5016-7BAA-15D6-8F3F9FDCD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EB0552-5252-44EF-4AB3-A8416A330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71305"/>
            <a:ext cx="11599921" cy="633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F81E016-B570-E691-DFCE-D5609B9E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Experiences (During)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51EB6-4C84-5BD9-1E3E-E788B0695A87}"/>
              </a:ext>
            </a:extLst>
          </p:cNvPr>
          <p:cNvSpPr txBox="1"/>
          <p:nvPr/>
        </p:nvSpPr>
        <p:spPr>
          <a:xfrm>
            <a:off x="993059" y="1572703"/>
            <a:ext cx="5492801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Creating oral exam questions.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Developing consistency in initial and follow-up questions.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Example situations/surprises</a:t>
            </a:r>
            <a:br>
              <a:rPr lang="en-US" sz="2800" dirty="0"/>
            </a:br>
            <a:endParaRPr lang="en-US" sz="2800" dirty="0"/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Informal Student Feedback</a:t>
            </a:r>
          </a:p>
          <a:p>
            <a:pPr marL="914400" lvl="1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6011A1-8515-E299-2D5D-1976CA91B0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560" y="1572703"/>
            <a:ext cx="3322937" cy="454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63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62F82-5AF3-01DB-1EAE-0938439CD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765149-42BE-9F5F-5FF1-052E0839DB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71305"/>
            <a:ext cx="11599921" cy="633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794DA0-52EF-99E5-03AF-504C19D96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Thoughts Moving Forward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31C994-1151-44DB-2BAA-A9A87CE65A59}"/>
              </a:ext>
            </a:extLst>
          </p:cNvPr>
          <p:cNvSpPr txBox="1"/>
          <p:nvPr/>
        </p:nvSpPr>
        <p:spPr>
          <a:xfrm>
            <a:off x="993059" y="1572703"/>
            <a:ext cx="1016655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Is there an order effect?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Subjectivity of rubric grading.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Ability to record the exams (what if there is a dispute?) 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endParaRPr lang="en-US" sz="2800" dirty="0"/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Would we keep doing them?</a:t>
            </a:r>
          </a:p>
          <a:p>
            <a:pPr marL="457200" indent="-457200">
              <a:spcBef>
                <a:spcPts val="1200"/>
              </a:spcBef>
              <a:buFont typeface="Wingdings" panose="05000000000000000000" pitchFamily="2" charset="2"/>
              <a:buChar char="Ø"/>
            </a:pPr>
            <a:r>
              <a:rPr lang="en-US" sz="2800" dirty="0"/>
              <a:t>Any adjustments or changes we would consider?</a:t>
            </a:r>
          </a:p>
        </p:txBody>
      </p:sp>
    </p:spTree>
    <p:extLst>
      <p:ext uri="{BB962C8B-B14F-4D97-AF65-F5344CB8AC3E}">
        <p14:creationId xmlns:p14="http://schemas.microsoft.com/office/powerpoint/2010/main" val="2102213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6A071-4631-C7E5-CA64-E0B1114BC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25DC6E-9BB9-5E19-7307-AF3D0DBB66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71305"/>
            <a:ext cx="11599921" cy="633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818D117-C3CA-6EDA-AF5D-D9EEAC12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4931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600" dirty="0"/>
              <a:t>Questions from the Audience?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EB95B9F-4D84-4E9F-A595-BFD14EEC0A63}"/>
              </a:ext>
            </a:extLst>
          </p:cNvPr>
          <p:cNvSpPr txBox="1">
            <a:spLocks/>
          </p:cNvSpPr>
          <p:nvPr/>
        </p:nvSpPr>
        <p:spPr>
          <a:xfrm>
            <a:off x="1778985" y="3370286"/>
            <a:ext cx="10515600" cy="1842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200"/>
              </a:spcAft>
            </a:pPr>
            <a:r>
              <a:rPr lang="en-US" sz="3600" dirty="0"/>
              <a:t>Resources available at:</a:t>
            </a:r>
          </a:p>
          <a:p>
            <a:pPr>
              <a:spcAft>
                <a:spcPts val="1200"/>
              </a:spcAft>
            </a:pPr>
            <a:r>
              <a:rPr lang="en-US" sz="3600" dirty="0">
                <a:hlinkClick r:id="rId3"/>
              </a:rPr>
              <a:t>https://github.com/jbpost2/Oral-exams-ecots-26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723724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4691E-9F47-8C3D-3EEE-E164F47D4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04BDB2-3754-B204-051B-C11768E52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71305"/>
            <a:ext cx="11599921" cy="63304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54DAF1-09AC-7D5E-058A-628D621F4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723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Thank You!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733AE9E-F7C2-D04B-9BF1-000044349F4D}"/>
              </a:ext>
            </a:extLst>
          </p:cNvPr>
          <p:cNvSpPr txBox="1">
            <a:spLocks/>
          </p:cNvSpPr>
          <p:nvPr/>
        </p:nvSpPr>
        <p:spPr>
          <a:xfrm>
            <a:off x="843120" y="2877264"/>
            <a:ext cx="10515600" cy="1842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200"/>
              </a:spcAft>
            </a:pPr>
            <a:r>
              <a:rPr lang="en-US" dirty="0"/>
              <a:t>Contact Us:</a:t>
            </a:r>
          </a:p>
          <a:p>
            <a:pPr>
              <a:spcAft>
                <a:spcPts val="1200"/>
              </a:spcAft>
            </a:pPr>
            <a:r>
              <a:rPr lang="en-US" dirty="0"/>
              <a:t>	Jacqueline Herman: </a:t>
            </a:r>
            <a:r>
              <a:rPr lang="en-US" dirty="0">
                <a:hlinkClick r:id="rId3"/>
              </a:rPr>
              <a:t>hermanj1@nku.edu</a:t>
            </a:r>
            <a:endParaRPr lang="en-US" dirty="0"/>
          </a:p>
          <a:p>
            <a:r>
              <a:rPr lang="en-US" dirty="0"/>
              <a:t>	Justin Post: </a:t>
            </a:r>
            <a:r>
              <a:rPr lang="en-US" dirty="0">
                <a:hlinkClick r:id="rId4"/>
              </a:rPr>
              <a:t>jbpost2@ncsu.edu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381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1173</TotalTime>
  <Words>721</Words>
  <Application>Microsoft Office PowerPoint</Application>
  <PresentationFormat>Widescreen</PresentationFormat>
  <Paragraphs>93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Wingdings</vt:lpstr>
      <vt:lpstr>Office Theme</vt:lpstr>
      <vt:lpstr>Talk is Not Cheap:</vt:lpstr>
      <vt:lpstr>Oral Exams: Polling the Room</vt:lpstr>
      <vt:lpstr>Our Motivations</vt:lpstr>
      <vt:lpstr>Our Motivations</vt:lpstr>
      <vt:lpstr>Our Experiences (Set-Up)</vt:lpstr>
      <vt:lpstr>Example Questions</vt:lpstr>
      <vt:lpstr>Example Questions</vt:lpstr>
      <vt:lpstr>Rubric</vt:lpstr>
      <vt:lpstr>Our Experiences (Set-Up)</vt:lpstr>
      <vt:lpstr>Example Questions</vt:lpstr>
      <vt:lpstr>Our Experiences (Set-Up)</vt:lpstr>
      <vt:lpstr>Example Program and Questions</vt:lpstr>
      <vt:lpstr>Rubric</vt:lpstr>
      <vt:lpstr>Our Experiences (During)</vt:lpstr>
      <vt:lpstr>Our Thoughts Moving Forward</vt:lpstr>
      <vt:lpstr>Questions from the Audience?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 is Not Cheap:</dc:title>
  <dc:creator>Jacqueline Herman</dc:creator>
  <cp:lastModifiedBy>JBPOST2</cp:lastModifiedBy>
  <cp:revision>17</cp:revision>
  <dcterms:created xsi:type="dcterms:W3CDTF">2026-05-21T16:30:55Z</dcterms:created>
  <dcterms:modified xsi:type="dcterms:W3CDTF">2026-06-16T19:29:05Z</dcterms:modified>
</cp:coreProperties>
</file>